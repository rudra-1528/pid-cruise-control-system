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ooper BT Light" panose="020B0604020202020204" charset="0"/>
      <p:regular r:id="rId11"/>
    </p:embeddedFont>
    <p:embeddedFont>
      <p:font typeface="Cooper BT Medium" panose="020B0604020202020204" charset="0"/>
      <p:regular r:id="rId12"/>
    </p:embeddedFont>
    <p:embeddedFont>
      <p:font typeface="TT Interphases" panose="020B0604020202020204" charset="0"/>
      <p:regular r:id="rId13"/>
    </p:embeddedFont>
    <p:embeddedFont>
      <p:font typeface="TT Interphase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6699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8324850" cy="5398824"/>
            <a:chOff x="0" y="0"/>
            <a:chExt cx="11099800" cy="7198432"/>
          </a:xfrm>
        </p:grpSpPr>
        <p:sp>
          <p:nvSpPr>
            <p:cNvPr id="6" name="TextBox 6"/>
            <p:cNvSpPr txBox="1"/>
            <p:nvPr/>
          </p:nvSpPr>
          <p:spPr>
            <a:xfrm>
              <a:off x="0" y="6680272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 spc="-47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Demonstrating Disturbance Rejection with a PI Controller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9075"/>
              <a:ext cx="11099800" cy="5999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499"/>
                </a:lnSpc>
              </a:pPr>
              <a:r>
                <a:rPr lang="en-US" sz="11499" spc="-229">
                  <a:solidFill>
                    <a:srgbClr val="223A5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Application of Control Systems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8724859"/>
            <a:ext cx="8324850" cy="895391"/>
            <a:chOff x="0" y="0"/>
            <a:chExt cx="11099800" cy="1193854"/>
          </a:xfrm>
        </p:grpSpPr>
        <p:sp>
          <p:nvSpPr>
            <p:cNvPr id="9" name="TextBox 9"/>
            <p:cNvSpPr txBox="1"/>
            <p:nvPr/>
          </p:nvSpPr>
          <p:spPr>
            <a:xfrm>
              <a:off x="0" y="659184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Control Systems Student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581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rgbClr val="466992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Rudra Pratap Singh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4722495"/>
            <a:chOff x="0" y="0"/>
            <a:chExt cx="11099800" cy="6296660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1099800" cy="1559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Cruise control automates the vehicle's speed, allowing drivers to set a desired pace. It adjusts engine power to maintain speed despite changes in road conditions or external forces.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223A5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Cruise Control Overview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466992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Automatic Speed Control Systems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798643" cy="10287000"/>
            <a:chOff x="0" y="0"/>
            <a:chExt cx="2317338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17338" cy="2709333"/>
            </a:xfrm>
            <a:custGeom>
              <a:avLst/>
              <a:gdLst/>
              <a:ahLst/>
              <a:cxnLst/>
              <a:rect l="l" t="t" r="r" b="b"/>
              <a:pathLst>
                <a:path w="2317338" h="2709333">
                  <a:moveTo>
                    <a:pt x="0" y="0"/>
                  </a:moveTo>
                  <a:lnTo>
                    <a:pt x="2317338" y="0"/>
                  </a:lnTo>
                  <a:lnTo>
                    <a:pt x="2317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3A5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317338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312075" cy="10287000"/>
            <a:chOff x="0" y="0"/>
            <a:chExt cx="271593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15937" cy="2709333"/>
            </a:xfrm>
            <a:custGeom>
              <a:avLst/>
              <a:gdLst/>
              <a:ahLst/>
              <a:cxnLst/>
              <a:rect l="l" t="t" r="r" b="b"/>
              <a:pathLst>
                <a:path w="2715937" h="2709333">
                  <a:moveTo>
                    <a:pt x="0" y="0"/>
                  </a:moveTo>
                  <a:lnTo>
                    <a:pt x="2715937" y="0"/>
                  </a:lnTo>
                  <a:lnTo>
                    <a:pt x="271593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3A5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71593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0536957" y="3797026"/>
            <a:ext cx="7429406" cy="2692947"/>
            <a:chOff x="0" y="0"/>
            <a:chExt cx="9905874" cy="3590596"/>
          </a:xfrm>
        </p:grpSpPr>
        <p:sp>
          <p:nvSpPr>
            <p:cNvPr id="8" name="TextBox 8"/>
            <p:cNvSpPr txBox="1"/>
            <p:nvPr/>
          </p:nvSpPr>
          <p:spPr>
            <a:xfrm>
              <a:off x="0" y="1749047"/>
              <a:ext cx="9905874" cy="1841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84"/>
                </a:lnSpc>
              </a:pPr>
              <a:r>
                <a:rPr lang="en-US" sz="2141" u="none" strike="noStrike" spc="-42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Simulink model illustrates the cruise control system architecture, including key components that simulate the car's response to various driving conditions and disturbances effectively.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52400"/>
              <a:ext cx="9905874" cy="1562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78"/>
                </a:lnSpc>
                <a:spcBef>
                  <a:spcPct val="0"/>
                </a:spcBef>
              </a:pPr>
              <a:r>
                <a:rPr lang="en-US" sz="8478" u="none" strike="noStrike" spc="-169">
                  <a:solidFill>
                    <a:srgbClr val="223A5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System Model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D3109D7-D65C-2546-50E0-8770A822E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171699"/>
            <a:ext cx="9982200" cy="45798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92914"/>
            <a:ext cx="10374266" cy="10351156"/>
            <a:chOff x="-100346" y="-65840"/>
            <a:chExt cx="2732317" cy="2726230"/>
          </a:xfrm>
        </p:grpSpPr>
        <p:sp>
          <p:nvSpPr>
            <p:cNvPr id="3" name="Freeform 3"/>
            <p:cNvSpPr/>
            <p:nvPr/>
          </p:nvSpPr>
          <p:spPr>
            <a:xfrm>
              <a:off x="-100346" y="-65840"/>
              <a:ext cx="2631971" cy="2660391"/>
            </a:xfrm>
            <a:custGeom>
              <a:avLst/>
              <a:gdLst/>
              <a:ahLst/>
              <a:cxnLst/>
              <a:rect l="l" t="t" r="r" b="b"/>
              <a:pathLst>
                <a:path w="2631971" h="2660391">
                  <a:moveTo>
                    <a:pt x="0" y="0"/>
                  </a:moveTo>
                  <a:lnTo>
                    <a:pt x="2631971" y="0"/>
                  </a:lnTo>
                  <a:lnTo>
                    <a:pt x="2631971" y="2660391"/>
                  </a:lnTo>
                  <a:lnTo>
                    <a:pt x="0" y="2660391"/>
                  </a:lnTo>
                  <a:close/>
                </a:path>
              </a:pathLst>
            </a:custGeom>
            <a:solidFill>
              <a:srgbClr val="223A5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631971" cy="268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0776107" y="3512083"/>
            <a:ext cx="7269897" cy="3342156"/>
            <a:chOff x="0" y="0"/>
            <a:chExt cx="9693196" cy="4456209"/>
          </a:xfrm>
        </p:grpSpPr>
        <p:sp>
          <p:nvSpPr>
            <p:cNvPr id="8" name="TextBox 8"/>
            <p:cNvSpPr txBox="1"/>
            <p:nvPr/>
          </p:nvSpPr>
          <p:spPr>
            <a:xfrm>
              <a:off x="0" y="3098978"/>
              <a:ext cx="9693196" cy="13572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24"/>
                </a:lnSpc>
              </a:pPr>
              <a:r>
                <a:rPr lang="en-US" sz="2095" u="none" strike="noStrike" spc="-41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P-controller simulation demonstrates a significant speed drop when faced with a disturbance, resulting in a steady-state error that persists throughout the test.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52400"/>
              <a:ext cx="9693196" cy="29233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296"/>
                </a:lnSpc>
                <a:spcBef>
                  <a:spcPct val="0"/>
                </a:spcBef>
              </a:pPr>
              <a:r>
                <a:rPr lang="en-US" sz="8296" u="none" strike="noStrike" spc="-165">
                  <a:solidFill>
                    <a:srgbClr val="223A5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P-Controller Results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EDE88-C993-B555-B66B-7D7D7E4C5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96" y="952500"/>
            <a:ext cx="9511604" cy="77083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73009" y="666750"/>
            <a:ext cx="9148241" cy="8953500"/>
            <a:chOff x="0" y="0"/>
            <a:chExt cx="240941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9413" cy="2358124"/>
            </a:xfrm>
            <a:custGeom>
              <a:avLst/>
              <a:gdLst/>
              <a:ahLst/>
              <a:cxnLst/>
              <a:rect l="l" t="t" r="r" b="b"/>
              <a:pathLst>
                <a:path w="2409413" h="2358124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223A5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3438526"/>
            <a:chOff x="0" y="0"/>
            <a:chExt cx="9182100" cy="4584701"/>
          </a:xfrm>
        </p:grpSpPr>
        <p:sp>
          <p:nvSpPr>
            <p:cNvPr id="6" name="TextBox 6"/>
            <p:cNvSpPr txBox="1"/>
            <p:nvPr/>
          </p:nvSpPr>
          <p:spPr>
            <a:xfrm>
              <a:off x="0" y="3545841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A1B5D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Steady-State Error in Performance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61925"/>
              <a:ext cx="9182100" cy="2996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>
                  <a:solidFill>
                    <a:srgbClr val="223A5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Analysis of P-Controller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1562100"/>
            <a:ext cx="6886575" cy="903605"/>
            <a:chOff x="0" y="0"/>
            <a:chExt cx="9182100" cy="1204806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1B5D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Speed Limitation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Speed never reaches target of 60 km/h.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4706"/>
            <a:ext cx="6886575" cy="903605"/>
            <a:chOff x="0" y="0"/>
            <a:chExt cx="9182100" cy="120480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1B5D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Disturbance Impact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Speed drops significantly when the hill occurs.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44135"/>
            <a:ext cx="6886575" cy="903605"/>
            <a:chOff x="0" y="0"/>
            <a:chExt cx="9182100" cy="120480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1B5D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Steady-State Error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Persistent error leads to inadequate speed control.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6933565"/>
            <a:ext cx="6886575" cy="1294130"/>
            <a:chOff x="0" y="0"/>
            <a:chExt cx="9182100" cy="172550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1B5D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Control System Failure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Proportional control alone cannot adjust appropriately.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27881" cy="10287000"/>
            <a:chOff x="0" y="0"/>
            <a:chExt cx="269376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93763" cy="2709333"/>
            </a:xfrm>
            <a:custGeom>
              <a:avLst/>
              <a:gdLst/>
              <a:ahLst/>
              <a:cxnLst/>
              <a:rect l="l" t="t" r="r" b="b"/>
              <a:pathLst>
                <a:path w="2693763" h="2709333">
                  <a:moveTo>
                    <a:pt x="0" y="0"/>
                  </a:moveTo>
                  <a:lnTo>
                    <a:pt x="2693763" y="0"/>
                  </a:lnTo>
                  <a:lnTo>
                    <a:pt x="26937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3A5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69376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0669714" y="3417637"/>
            <a:ext cx="7349744" cy="3723646"/>
            <a:chOff x="0" y="0"/>
            <a:chExt cx="9799658" cy="4964861"/>
          </a:xfrm>
        </p:grpSpPr>
        <p:sp>
          <p:nvSpPr>
            <p:cNvPr id="8" name="TextBox 8"/>
            <p:cNvSpPr txBox="1"/>
            <p:nvPr/>
          </p:nvSpPr>
          <p:spPr>
            <a:xfrm>
              <a:off x="0" y="3142853"/>
              <a:ext cx="9799658" cy="1822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54"/>
                </a:lnSpc>
              </a:pPr>
              <a:r>
                <a:rPr lang="en-US" sz="2118" u="none" strike="noStrike" spc="-42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PI-controller effectively manages disturbances, achieving the target speed of </a:t>
              </a:r>
              <a:r>
                <a:rPr lang="en-US" sz="2118" b="1" u="none" strike="noStrike" spc="-42">
                  <a:solidFill>
                    <a:srgbClr val="778DA9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60 km/h</a:t>
              </a:r>
              <a:r>
                <a:rPr lang="en-US" sz="2118" u="none" strike="noStrike" spc="-42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with no steady-state error, demonstrating its superiority in maintaining performance under varying conditions.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52400"/>
              <a:ext cx="9799658" cy="29571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87"/>
                </a:lnSpc>
                <a:spcBef>
                  <a:spcPct val="0"/>
                </a:spcBef>
              </a:pPr>
              <a:r>
                <a:rPr lang="en-US" sz="8387" u="none" strike="noStrike" spc="-167">
                  <a:solidFill>
                    <a:srgbClr val="223A5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PI-Controller Performance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7A1AD53-B86E-78F5-7479-89FD5DF1A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800100"/>
            <a:ext cx="9814991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73009" y="666750"/>
            <a:ext cx="9148241" cy="8953500"/>
            <a:chOff x="0" y="0"/>
            <a:chExt cx="240941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9413" cy="2358124"/>
            </a:xfrm>
            <a:custGeom>
              <a:avLst/>
              <a:gdLst/>
              <a:ahLst/>
              <a:cxnLst/>
              <a:rect l="l" t="t" r="r" b="b"/>
              <a:pathLst>
                <a:path w="2409413" h="2358124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223A5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3048001"/>
            <a:chOff x="0" y="0"/>
            <a:chExt cx="9182100" cy="4064001"/>
          </a:xfrm>
        </p:grpSpPr>
        <p:sp>
          <p:nvSpPr>
            <p:cNvPr id="6" name="TextBox 6"/>
            <p:cNvSpPr txBox="1"/>
            <p:nvPr/>
          </p:nvSpPr>
          <p:spPr>
            <a:xfrm>
              <a:off x="0" y="3545841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A1B5D8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Understanding Zero Steady-State Error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61925"/>
              <a:ext cx="9182100" cy="2996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>
                  <a:solidFill>
                    <a:srgbClr val="223A5E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Analysis of PI-Controller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1562100"/>
            <a:ext cx="6886575" cy="903605"/>
            <a:chOff x="0" y="0"/>
            <a:chExt cx="9182100" cy="1204806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1B5D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Steady-State Achievement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Speed maintains target at 60 km/h effectively.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4706"/>
            <a:ext cx="6886575" cy="1294130"/>
            <a:chOff x="0" y="0"/>
            <a:chExt cx="9182100" cy="172550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1B5D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Disturbance Response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Controller quickly recovers from disturbances like hills.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44135"/>
            <a:ext cx="6886575" cy="903605"/>
            <a:chOff x="0" y="0"/>
            <a:chExt cx="9182100" cy="120480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1B5D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Integral Action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Integral term counters persistent errors over time.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6933565"/>
            <a:ext cx="6886575" cy="903605"/>
            <a:chOff x="0" y="0"/>
            <a:chExt cx="9182100" cy="120480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A1B5D8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Real-World Application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86646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PI controllers are crucial for practical control systems.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20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3A5E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816593" cy="272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6629" y="7238068"/>
            <a:ext cx="4241317" cy="2773894"/>
            <a:chOff x="0" y="0"/>
            <a:chExt cx="1117055" cy="7305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17055" cy="730573"/>
            </a:xfrm>
            <a:custGeom>
              <a:avLst/>
              <a:gdLst/>
              <a:ahLst/>
              <a:cxnLst/>
              <a:rect l="l" t="t" r="r" b="b"/>
              <a:pathLst>
                <a:path w="1117055" h="730573">
                  <a:moveTo>
                    <a:pt x="73014" y="0"/>
                  </a:moveTo>
                  <a:lnTo>
                    <a:pt x="1044040" y="0"/>
                  </a:lnTo>
                  <a:cubicBezTo>
                    <a:pt x="1063405" y="0"/>
                    <a:pt x="1081977" y="7693"/>
                    <a:pt x="1095669" y="21385"/>
                  </a:cubicBezTo>
                  <a:cubicBezTo>
                    <a:pt x="1109362" y="35078"/>
                    <a:pt x="1117055" y="53650"/>
                    <a:pt x="1117055" y="73014"/>
                  </a:cubicBezTo>
                  <a:lnTo>
                    <a:pt x="1117055" y="657559"/>
                  </a:lnTo>
                  <a:cubicBezTo>
                    <a:pt x="1117055" y="676923"/>
                    <a:pt x="1109362" y="695495"/>
                    <a:pt x="1095669" y="709188"/>
                  </a:cubicBezTo>
                  <a:cubicBezTo>
                    <a:pt x="1081977" y="722880"/>
                    <a:pt x="1063405" y="730573"/>
                    <a:pt x="1044040" y="730573"/>
                  </a:cubicBezTo>
                  <a:lnTo>
                    <a:pt x="73014" y="730573"/>
                  </a:lnTo>
                  <a:cubicBezTo>
                    <a:pt x="53650" y="730573"/>
                    <a:pt x="35078" y="722880"/>
                    <a:pt x="21385" y="709188"/>
                  </a:cubicBezTo>
                  <a:cubicBezTo>
                    <a:pt x="7693" y="695495"/>
                    <a:pt x="0" y="676923"/>
                    <a:pt x="0" y="657559"/>
                  </a:cubicBezTo>
                  <a:lnTo>
                    <a:pt x="0" y="73014"/>
                  </a:lnTo>
                  <a:cubicBezTo>
                    <a:pt x="0" y="53650"/>
                    <a:pt x="7693" y="35078"/>
                    <a:pt x="21385" y="21385"/>
                  </a:cubicBezTo>
                  <a:cubicBezTo>
                    <a:pt x="35078" y="7693"/>
                    <a:pt x="53650" y="0"/>
                    <a:pt x="73014" y="0"/>
                  </a:cubicBezTo>
                  <a:close/>
                </a:path>
              </a:pathLst>
            </a:custGeom>
            <a:solidFill>
              <a:srgbClr val="FEFEF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117055" cy="740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43706" y="7238068"/>
            <a:ext cx="4010025" cy="2686050"/>
            <a:chOff x="0" y="0"/>
            <a:chExt cx="1056138" cy="7074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6138" cy="707437"/>
            </a:xfrm>
            <a:custGeom>
              <a:avLst/>
              <a:gdLst/>
              <a:ahLst/>
              <a:cxnLst/>
              <a:rect l="l" t="t" r="r" b="b"/>
              <a:pathLst>
                <a:path w="1056138" h="707437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630211"/>
                  </a:lnTo>
                  <a:cubicBezTo>
                    <a:pt x="1056138" y="672862"/>
                    <a:pt x="1021563" y="707437"/>
                    <a:pt x="978913" y="707437"/>
                  </a:cubicBezTo>
                  <a:lnTo>
                    <a:pt x="77226" y="707437"/>
                  </a:lnTo>
                  <a:cubicBezTo>
                    <a:pt x="34575" y="707437"/>
                    <a:pt x="0" y="672862"/>
                    <a:pt x="0" y="63021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FEFEFE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056138" cy="7169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972162" y="284635"/>
            <a:ext cx="10490596" cy="133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52"/>
              </a:lnSpc>
              <a:spcBef>
                <a:spcPct val="0"/>
              </a:spcBef>
            </a:pPr>
            <a:r>
              <a:rPr lang="en-US" sz="5152" u="none" strike="noStrike" spc="-103">
                <a:solidFill>
                  <a:srgbClr val="DBE3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Comparison of P-Controller and PI-Controller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645586" y="7616618"/>
            <a:ext cx="3483404" cy="2062688"/>
            <a:chOff x="0" y="0"/>
            <a:chExt cx="4644539" cy="275025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4644539" cy="6613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9"/>
                </a:lnSpc>
                <a:spcBef>
                  <a:spcPct val="0"/>
                </a:spcBef>
              </a:pPr>
              <a:r>
                <a:rPr lang="en-US" sz="3207">
                  <a:solidFill>
                    <a:srgbClr val="466992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P-Controller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28944"/>
              <a:ext cx="4644539" cy="15213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Cannot handle disturbances, resulting in steady-state error.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19944" y="7616618"/>
            <a:ext cx="3257550" cy="1928949"/>
            <a:chOff x="0" y="0"/>
            <a:chExt cx="4343400" cy="2571932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4343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466992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PI-Controller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155700"/>
              <a:ext cx="4343400" cy="14162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057">
                  <a:solidFill>
                    <a:srgbClr val="778DA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Effectively eliminates steady-state error and counters disturbances.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F8D9FE9-6A93-BCC2-5A7A-4188FDE5A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4585" y="1700689"/>
            <a:ext cx="6128266" cy="49480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901799F-94B3-A9D9-2D78-CC5508543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00689"/>
            <a:ext cx="6257830" cy="50714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02596" y="0"/>
            <a:ext cx="8185404" cy="10287000"/>
            <a:chOff x="0" y="0"/>
            <a:chExt cx="215582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5827" cy="2709333"/>
            </a:xfrm>
            <a:custGeom>
              <a:avLst/>
              <a:gdLst/>
              <a:ahLst/>
              <a:cxnLst/>
              <a:rect l="l" t="t" r="r" b="b"/>
              <a:pathLst>
                <a:path w="2155827" h="2709333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3A5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08180" y="666750"/>
            <a:ext cx="6947741" cy="8953500"/>
            <a:chOff x="0" y="0"/>
            <a:chExt cx="812800" cy="10474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47449"/>
            </a:xfrm>
            <a:custGeom>
              <a:avLst/>
              <a:gdLst/>
              <a:ahLst/>
              <a:cxnLst/>
              <a:rect l="l" t="t" r="r" b="b"/>
              <a:pathLst>
                <a:path w="812800" h="1047449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t="-306" b="-30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4332899"/>
            <a:ext cx="8324850" cy="113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223A5E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0708180" y="9066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269</Words>
  <Application>Microsoft Office PowerPoint</Application>
  <PresentationFormat>Custom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TT Interphases</vt:lpstr>
      <vt:lpstr>Cooper BT Light</vt:lpstr>
      <vt:lpstr>Calibri</vt:lpstr>
      <vt:lpstr>Arial</vt:lpstr>
      <vt:lpstr>TT Interphases Bold</vt:lpstr>
      <vt:lpstr>Cooper BT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Application of Control Systems</dc:title>
  <dc:description>Presentation - Application of Control Systems</dc:description>
  <cp:lastModifiedBy>Rudra Pratap Singh</cp:lastModifiedBy>
  <cp:revision>5</cp:revision>
  <dcterms:created xsi:type="dcterms:W3CDTF">2006-08-16T00:00:00Z</dcterms:created>
  <dcterms:modified xsi:type="dcterms:W3CDTF">2026-01-08T06:45:23Z</dcterms:modified>
  <dc:identifier>DAG4gKgNs38</dc:identifier>
</cp:coreProperties>
</file>